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99a63f342f4b0f" /><Relationship Type="http://schemas.openxmlformats.org/officeDocument/2006/relationships/extended-properties" Target="/docProps/app.xml" Id="R2bcdc7656e694e2a" /><Relationship Type="http://schemas.openxmlformats.org/officeDocument/2006/relationships/officeDocument" Target="/ppt/presentation.xml" Id="Rc07ead2491dc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d78c78fb884d8a"/>
  </p:sldMasterIdLst>
  <p:notesMasterIdLst>
    <p:notesMasterId xmlns:r="http://schemas.openxmlformats.org/officeDocument/2006/relationships" r:id="Rca61c0ccc0754f5e"/>
  </p:notesMasterIdLst>
  <p:sldIdLst>
    <p:sldId xmlns:r="http://schemas.openxmlformats.org/officeDocument/2006/relationships" id="256" r:id="Rafd66ccac5404e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78c78fb884d8a" /><Relationship Type="http://schemas.openxmlformats.org/officeDocument/2006/relationships/theme" Target="/ppt/theme/theme1.xml" Id="R6058ce42cf7f4c70" /><Relationship Type="http://schemas.openxmlformats.org/officeDocument/2006/relationships/notesMaster" Target="/ppt/notesMasters/notesMaster1.xml" Id="Rca61c0ccc0754f5e" /><Relationship Type="http://schemas.openxmlformats.org/officeDocument/2006/relationships/presProps" Target="/ppt/presProps.xml" Id="R40d485b7f71d4a8a" /><Relationship Type="http://schemas.openxmlformats.org/officeDocument/2006/relationships/viewProps" Target="/ppt/viewProps.xml" Id="R010ffbc3faed40de" /><Relationship Type="http://schemas.openxmlformats.org/officeDocument/2006/relationships/tableStyles" Target="/ppt/tableStyles.xml" Id="Rc333255d8fc64cff" /><Relationship Type="http://schemas.openxmlformats.org/officeDocument/2006/relationships/slide" Target="/ppt/slides/slide1.xml" Id="Rafd66ccac5404e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6bc839669e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b5d85ab79b42e5" /><Relationship Type="http://schemas.openxmlformats.org/officeDocument/2006/relationships/notesMaster" Target="/ppt/notesMasters/notesMaster1.xml" Id="R458650579e86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b1bbc50ba422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f19070c210426a" /><Relationship Type="http://schemas.openxmlformats.org/officeDocument/2006/relationships/slideLayout" Target="/ppt/slideLayouts/slideLayout2.xml" Id="R2b36382e2967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36382e2967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bc7dc1b8d4d54" /><Relationship Type="http://schemas.openxmlformats.org/officeDocument/2006/relationships/image" Target="/ppt/media/image.png" Id="Rfd55c29ce5bc410a" /><Relationship Type="http://schemas.openxmlformats.org/officeDocument/2006/relationships/image" Target="/ppt/media/image.svg" Id="Rf9ae2b65b20b488c" /><Relationship Type="http://schemas.openxmlformats.org/officeDocument/2006/relationships/image" Target="/ppt/media/image2.png" Id="Rae1e844dd7f64ab2" /><Relationship Type="http://schemas.openxmlformats.org/officeDocument/2006/relationships/image" Target="/ppt/media/image2.svg" Id="R2501180bb4064b7e" /><Relationship Type="http://schemas.openxmlformats.org/officeDocument/2006/relationships/image" Target="/ppt/media/image3.png" Id="Rd4f6160e48314e6f" /><Relationship Type="http://schemas.openxmlformats.org/officeDocument/2006/relationships/image" Target="/ppt/media/image3.svg" Id="Rd268b88aadb347df" /><Relationship Type="http://schemas.openxmlformats.org/officeDocument/2006/relationships/image" Target="/ppt/media/image4.png" Id="R5d13a6d984514098" /><Relationship Type="http://schemas.openxmlformats.org/officeDocument/2006/relationships/image" Target="/ppt/media/image4.svg" Id="Rd2b84374b6ff49bd" /><Relationship Type="http://schemas.openxmlformats.org/officeDocument/2006/relationships/image" Target="/ppt/media/image5.png" Id="Re4bbb7a685fe443f" /><Relationship Type="http://schemas.openxmlformats.org/officeDocument/2006/relationships/image" Target="/ppt/media/image5.svg" Id="Rb199089aa5cc415e" /><Relationship Type="http://schemas.openxmlformats.org/officeDocument/2006/relationships/image" Target="/ppt/media/image6.png" Id="Rf3504b76ae1649fc" /><Relationship Type="http://schemas.openxmlformats.org/officeDocument/2006/relationships/image" Target="/ppt/media/image6.svg" Id="R6c460e2a714d4c9a" /><Relationship Type="http://schemas.openxmlformats.org/officeDocument/2006/relationships/image" Target="/ppt/media/image7.png" Id="R94a81c4ad9b642b3" /><Relationship Type="http://schemas.openxmlformats.org/officeDocument/2006/relationships/image" Target="/ppt/media/image7.svg" Id="R6b7fa1541d674c1b" /><Relationship Type="http://schemas.openxmlformats.org/officeDocument/2006/relationships/notesSlide" Target="/ppt/notesSlides/notesSlide1.xml" Id="R5bfb7874430241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3EAEB35-A7A6-4129-927D-D2D6BEF5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9DCA350-FAF2-425D-8439-CF6A3EEB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45E3ED7-71B7-4714-90DF-ECB62A6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F791FE-6D12-494F-8EAE-6FA734B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BBC2D7-6EB4-41DE-BE16-52C5B22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FA79B"/>
                </a:solidFill>
                <a:latin typeface="Aptos"/>
                <a:ea typeface="Aptos"/>
                <a:cs typeface="Aptos"/>
              </a:rPr>
              <a:t>OCI GENAI | FUNCTION CALLING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BA0C916-2260-4E73-91BC-7A2AFC9E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8EC"/>
                </a:solidFill>
                <a:latin typeface="Aptos Display"/>
                <a:ea typeface="Aptos Display"/>
                <a:cs typeface="Aptos Display"/>
              </a:rPr>
              <a:t>Function calling is a controlled loop: the model asks, your app executes, OCI continues.</a:t>
            </a:r>
          </a:p>
        </p:txBody>
      </p:sp>
      <p:sp>
        <p:nvSpPr>
          <p:cNvPr id="7" name="support-note">
            <a:extLst xmlns:a="http://schemas.openxmlformats.org/drawingml/2006/main">
              <a:ext uri="{FF2B5EF4-FFF2-40B4-BE49-F238E27FC236}">
                <a16:creationId xmlns:a16="http://schemas.microsoft.com/office/drawing/2014/main" id="{DD766324-0B58-4002-B01F-1AB31C4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00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Use the OpenAI-compatible Responses API with model openai.gpt-oss-120b; pass tools, handle function_call items, then return function_call_output with the matching call_id.</a:t>
            </a:r>
          </a:p>
        </p:txBody>
      </p:sp>
      <p:sp>
        <p:nvSpPr>
          <p:cNvPr id="8" name="endpoint-card">
            <a:extLst xmlns:a="http://schemas.openxmlformats.org/drawingml/2006/main">
              <a:ext uri="{FF2B5EF4-FFF2-40B4-BE49-F238E27FC236}">
                <a16:creationId xmlns:a16="http://schemas.microsoft.com/office/drawing/2014/main" id="{1CA12E4D-A884-4C4A-8C94-0FF655F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"/>
            <a:ext cx="2743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C3338"/>
            </a:solidFill>
            <a:prstDash val="solid"/>
          </a:ln>
        </p:spPr>
      </p:sp>
      <p:sp>
        <p:nvSpPr>
          <p:cNvPr id="9" name="endpoint-title">
            <a:extLst xmlns:a="http://schemas.openxmlformats.org/drawingml/2006/main">
              <a:ext uri="{FF2B5EF4-FFF2-40B4-BE49-F238E27FC236}">
                <a16:creationId xmlns:a16="http://schemas.microsoft.com/office/drawing/2014/main" id="{45872F8C-348E-43E1-A84A-8115267D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OCI endpoint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89C22-41EF-4A25-B570-A005C966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001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base_url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3057D3-6EE9-4226-9116-948C621D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90575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https://inference.generativeai.&lt;region&gt;.oci.oraclecloud.com/openai/v1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6F7D3-E66A-4943-9FEB-C2504E68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049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EFE4D-F63B-4448-8594-F1D54A8B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95375"/>
            <a:ext cx="895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638" b="1">
                <a:solidFill>
                  <a:srgbClr val="18B7A6"/>
                </a:solidFill>
                <a:latin typeface="Menlo"/>
                <a:ea typeface="Menlo"/>
                <a:cs typeface="Menlo"/>
              </a:rPr>
              <a:t>/responses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F7FBA-5451-4525-B853-CB23CDD3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552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F6A62"/>
                </a:solidFill>
                <a:latin typeface="Menlo"/>
                <a:ea typeface="Menlo"/>
                <a:cs typeface="Menlo"/>
              </a:defRPr>
            </a:pPr>
            <a:r>
              <a:rPr sz="600" b="0">
                <a:solidFill>
                  <a:srgbClr val="6F6A62"/>
                </a:solidFill>
                <a:latin typeface="Menlo"/>
                <a:ea typeface="Menlo"/>
                <a:cs typeface="Menlo"/>
              </a:rPr>
              <a:t>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EBC29-F590-4FC4-AFAE-C9D11A7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23975"/>
            <a:ext cx="1790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1">
                <a:solidFill>
                  <a:srgbClr val="F26A3D"/>
                </a:solidFill>
                <a:latin typeface="Menlo"/>
                <a:ea typeface="Menlo"/>
                <a:cs typeface="Menlo"/>
              </a:defRPr>
            </a:pPr>
            <a:r>
              <a:rPr sz="540" b="1">
                <a:solidFill>
                  <a:srgbClr val="F26A3D"/>
                </a:solidFill>
                <a:latin typeface="Menlo"/>
                <a:ea typeface="Menlo"/>
                <a:cs typeface="Menlo"/>
              </a:rPr>
              <a:t>openai.gpt-oss-120b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2BD50-160E-4466-969C-707FE673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3E8DC-3A72-4104-B972-815905EF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CLIENT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41020-70E0-44DA-A102-3BBFA333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27AEE0-DC14-4784-8FCA-B967F7CE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OCI RESPONSES API +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43502-CA2B-4380-922B-45C595E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716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D33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39678-A99E-459A-B76A-46FD1FA9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19300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YOUR TOOL / DATA</a:t>
            </a:r>
          </a:p>
        </p:txBody>
      </p:sp>
      <p:sp>
        <p:nvSpPr>
          <p:cNvPr id="22" name="lane-rule-1">
            <a:extLst xmlns:a="http://schemas.openxmlformats.org/drawingml/2006/main">
              <a:ext uri="{FF2B5EF4-FFF2-40B4-BE49-F238E27FC236}">
                <a16:creationId xmlns:a16="http://schemas.microsoft.com/office/drawing/2014/main" id="{1E01B800-B68A-4225-B293-D1551D0E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52625"/>
            <a:ext cx="95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lane-rule-2">
            <a:extLst xmlns:a="http://schemas.openxmlformats.org/drawingml/2006/main">
              <a:ext uri="{FF2B5EF4-FFF2-40B4-BE49-F238E27FC236}">
                <a16:creationId xmlns:a16="http://schemas.microsoft.com/office/drawing/2014/main" id="{462CCE90-A1B3-4C12-A084-A029471A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52625"/>
            <a:ext cx="9525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ep-01-box">
            <a:extLst xmlns:a="http://schemas.openxmlformats.org/drawingml/2006/main">
              <a:ext uri="{FF2B5EF4-FFF2-40B4-BE49-F238E27FC236}">
                <a16:creationId xmlns:a16="http://schemas.microsoft.com/office/drawing/2014/main" id="{95B40A36-2313-4C29-9BC0-540E40E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E"/>
          </a:solidFill>
          <a:ln xmlns:a="http://schemas.openxmlformats.org/drawingml/2006/main" w="9525">
            <a:solidFill>
              <a:srgbClr val="393E43"/>
            </a:solidFill>
            <a:prstDash val="solid"/>
          </a:ln>
        </p:spPr>
      </p:sp>
      <p:sp>
        <p:nvSpPr>
          <p:cNvPr id="25" name="step-01-bar">
            <a:extLst xmlns:a="http://schemas.openxmlformats.org/drawingml/2006/main">
              <a:ext uri="{FF2B5EF4-FFF2-40B4-BE49-F238E27FC236}">
                <a16:creationId xmlns:a16="http://schemas.microsoft.com/office/drawing/2014/main" id="{DDCD3682-AA1E-4C64-8ADD-B5511457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tep-01-num-ring">
            <a:extLst xmlns:a="http://schemas.openxmlformats.org/drawingml/2006/main">
              <a:ext uri="{FF2B5EF4-FFF2-40B4-BE49-F238E27FC236}">
                <a16:creationId xmlns:a16="http://schemas.microsoft.com/office/drawing/2014/main" id="{EBC21FB9-5213-4BC6-BBF9-A34B268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26A3D"/>
            </a:solidFill>
            <a:prstDash val="solid"/>
          </a:ln>
        </p:spPr>
      </p:sp>
      <p:sp>
        <p:nvSpPr>
          <p:cNvPr id="27" name="step-01-num">
            <a:extLst xmlns:a="http://schemas.openxmlformats.org/drawingml/2006/main">
              <a:ext uri="{FF2B5EF4-FFF2-40B4-BE49-F238E27FC236}">
                <a16:creationId xmlns:a16="http://schemas.microsoft.com/office/drawing/2014/main" id="{EE0DDFFE-E1C7-456C-844F-F1CE278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6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step-01-title">
            <a:extLst xmlns:a="http://schemas.openxmlformats.org/drawingml/2006/main">
              <a:ext uri="{FF2B5EF4-FFF2-40B4-BE49-F238E27FC236}">
                <a16:creationId xmlns:a16="http://schemas.microsoft.com/office/drawing/2014/main" id="{C1760EBB-9689-4877-B81E-6A5C1B9B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Declare tools</a:t>
            </a:r>
          </a:p>
        </p:txBody>
      </p:sp>
      <p:sp>
        <p:nvSpPr>
          <p:cNvPr id="29" name="step-01-body">
            <a:extLst xmlns:a="http://schemas.openxmlformats.org/drawingml/2006/main">
              <a:ext uri="{FF2B5EF4-FFF2-40B4-BE49-F238E27FC236}">
                <a16:creationId xmlns:a16="http://schemas.microsoft.com/office/drawing/2014/main" id="{BF0F3D07-2F3F-40F1-B948-D501068D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Send user input plus tool JSON schemas in the first Responses API call.</a:t>
            </a:r>
          </a:p>
        </p:txBody>
      </p:sp>
      <p:sp>
        <p:nvSpPr>
          <p:cNvPr id="30" name="step-02-box">
            <a:extLst xmlns:a="http://schemas.openxmlformats.org/drawingml/2006/main">
              <a:ext uri="{FF2B5EF4-FFF2-40B4-BE49-F238E27FC236}">
                <a16:creationId xmlns:a16="http://schemas.microsoft.com/office/drawing/2014/main" id="{3689C9E0-7543-4DB0-8E99-FF89BC05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1885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A1E"/>
          </a:solidFill>
          <a:ln xmlns:a="http://schemas.openxmlformats.org/drawingml/2006/main" w="9525">
            <a:solidFill>
              <a:srgbClr val="393E43"/>
            </a:solidFill>
            <a:prstDash val="solid"/>
          </a:ln>
        </p:spPr>
      </p:sp>
      <p:sp>
        <p:nvSpPr>
          <p:cNvPr id="31" name="step-02-bar">
            <a:extLst xmlns:a="http://schemas.openxmlformats.org/drawingml/2006/main">
              <a:ext uri="{FF2B5EF4-FFF2-40B4-BE49-F238E27FC236}">
                <a16:creationId xmlns:a16="http://schemas.microsoft.com/office/drawing/2014/main" id="{9E59C188-AF57-43AF-8F5F-0821630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622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tep-02-num-ring">
            <a:extLst xmlns:a="http://schemas.openxmlformats.org/drawingml/2006/main">
              <a:ext uri="{FF2B5EF4-FFF2-40B4-BE49-F238E27FC236}">
                <a16:creationId xmlns:a16="http://schemas.microsoft.com/office/drawing/2014/main" id="{760C7313-5A95-45FF-9350-3A22DA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05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B7A6"/>
            </a:solidFill>
            <a:prstDash val="solid"/>
          </a:ln>
        </p:spPr>
      </p:sp>
      <p:sp>
        <p:nvSpPr>
          <p:cNvPr id="33" name="step-02-num">
            <a:extLst xmlns:a="http://schemas.openxmlformats.org/drawingml/2006/main">
              <a:ext uri="{FF2B5EF4-FFF2-40B4-BE49-F238E27FC236}">
                <a16:creationId xmlns:a16="http://schemas.microsoft.com/office/drawing/2014/main" id="{C9F78718-059E-4ECC-AECD-07C3B31C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622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step-02-title">
            <a:extLst xmlns:a="http://schemas.openxmlformats.org/drawingml/2006/main">
              <a:ext uri="{FF2B5EF4-FFF2-40B4-BE49-F238E27FC236}">
                <a16:creationId xmlns:a16="http://schemas.microsoft.com/office/drawing/2014/main" id="{CB82DE6C-BEA9-42AF-9933-6DC3E5F4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Reason over request</a:t>
            </a:r>
          </a:p>
        </p:txBody>
      </p:sp>
      <p:sp>
        <p:nvSpPr>
          <p:cNvPr id="35" name="step-02-body">
            <a:extLst xmlns:a="http://schemas.openxmlformats.org/drawingml/2006/main">
              <a:ext uri="{FF2B5EF4-FFF2-40B4-BE49-F238E27FC236}">
                <a16:creationId xmlns:a16="http://schemas.microsoft.com/office/drawing/2014/main" id="{A2DE8F8A-94A1-4A4D-A435-89738763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OCI routes to gpt-oss-120b; the model decides if a tool is needed.</a:t>
            </a:r>
          </a:p>
        </p:txBody>
      </p:sp>
      <p:sp>
        <p:nvSpPr>
          <p:cNvPr id="36" name="step-03-box">
            <a:extLst xmlns:a="http://schemas.openxmlformats.org/drawingml/2006/main">
              <a:ext uri="{FF2B5EF4-FFF2-40B4-BE49-F238E27FC236}">
                <a16:creationId xmlns:a16="http://schemas.microsoft.com/office/drawing/2014/main" id="{34E2C3E8-C4F4-49EF-B2BE-57B609E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5A4D2E"/>
            </a:solidFill>
            <a:prstDash val="solid"/>
          </a:ln>
        </p:spPr>
      </p:sp>
      <p:sp>
        <p:nvSpPr>
          <p:cNvPr id="37" name="step-03-bar">
            <a:extLst xmlns:a="http://schemas.openxmlformats.org/drawingml/2006/main">
              <a:ext uri="{FF2B5EF4-FFF2-40B4-BE49-F238E27FC236}">
                <a16:creationId xmlns:a16="http://schemas.microsoft.com/office/drawing/2014/main" id="{266E0E77-DB00-4DF4-9113-BC6A8B08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tep-03-num-ring">
            <a:extLst xmlns:a="http://schemas.openxmlformats.org/drawingml/2006/main">
              <a:ext uri="{FF2B5EF4-FFF2-40B4-BE49-F238E27FC236}">
                <a16:creationId xmlns:a16="http://schemas.microsoft.com/office/drawing/2014/main" id="{9049FFE6-D341-4DDA-A1D8-AA87195B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7B46A"/>
            </a:solidFill>
            <a:prstDash val="solid"/>
          </a:ln>
        </p:spPr>
      </p:sp>
      <p:sp>
        <p:nvSpPr>
          <p:cNvPr id="39" name="step-03-num">
            <a:extLst xmlns:a="http://schemas.openxmlformats.org/drawingml/2006/main">
              <a:ext uri="{FF2B5EF4-FFF2-40B4-BE49-F238E27FC236}">
                <a16:creationId xmlns:a16="http://schemas.microsoft.com/office/drawing/2014/main" id="{839D1295-0924-4CCE-99B7-51C94B75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step-03-title">
            <a:extLst xmlns:a="http://schemas.openxmlformats.org/drawingml/2006/main">
              <a:ext uri="{FF2B5EF4-FFF2-40B4-BE49-F238E27FC236}">
                <a16:creationId xmlns:a16="http://schemas.microsoft.com/office/drawing/2014/main" id="{1B72F8C9-881B-4484-9967-D76E4F07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Return function_call</a:t>
            </a:r>
          </a:p>
        </p:txBody>
      </p:sp>
      <p:sp>
        <p:nvSpPr>
          <p:cNvPr id="41" name="step-03-body">
            <a:extLst xmlns:a="http://schemas.openxmlformats.org/drawingml/2006/main">
              <a:ext uri="{FF2B5EF4-FFF2-40B4-BE49-F238E27FC236}">
                <a16:creationId xmlns:a16="http://schemas.microsoft.com/office/drawing/2014/main" id="{2D20B9E4-A88E-47B0-8E48-2A6A043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Returns name, JSON arguments, and call_id. No execution yet.</a:t>
            </a:r>
          </a:p>
        </p:txBody>
      </p:sp>
      <p:sp>
        <p:nvSpPr>
          <p:cNvPr id="42" name="step-04-box">
            <a:extLst xmlns:a="http://schemas.openxmlformats.org/drawingml/2006/main">
              <a:ext uri="{FF2B5EF4-FFF2-40B4-BE49-F238E27FC236}">
                <a16:creationId xmlns:a16="http://schemas.microsoft.com/office/drawing/2014/main" id="{F2A6EDA4-6A6A-4E62-8FBB-C20D970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5E3729"/>
            </a:solidFill>
            <a:prstDash val="solid"/>
          </a:ln>
        </p:spPr>
      </p:sp>
      <p:sp>
        <p:nvSpPr>
          <p:cNvPr id="43" name="step-04-bar">
            <a:extLst xmlns:a="http://schemas.openxmlformats.org/drawingml/2006/main">
              <a:ext uri="{FF2B5EF4-FFF2-40B4-BE49-F238E27FC236}">
                <a16:creationId xmlns:a16="http://schemas.microsoft.com/office/drawing/2014/main" id="{2679456D-B271-4CBB-9719-C1CFC48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tep-04-num-ring">
            <a:extLst xmlns:a="http://schemas.openxmlformats.org/drawingml/2006/main">
              <a:ext uri="{FF2B5EF4-FFF2-40B4-BE49-F238E27FC236}">
                <a16:creationId xmlns:a16="http://schemas.microsoft.com/office/drawing/2014/main" id="{EC616C74-35BC-401C-B0AB-2A04FA0F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F26A3D"/>
            </a:solidFill>
            <a:prstDash val="solid"/>
          </a:ln>
        </p:spPr>
      </p:sp>
      <p:sp>
        <p:nvSpPr>
          <p:cNvPr id="45" name="step-04-num">
            <a:extLst xmlns:a="http://schemas.openxmlformats.org/drawingml/2006/main">
              <a:ext uri="{FF2B5EF4-FFF2-40B4-BE49-F238E27FC236}">
                <a16:creationId xmlns:a16="http://schemas.microsoft.com/office/drawing/2014/main" id="{704C7224-A082-429A-AC33-985D9D9D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26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6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step-04-title">
            <a:extLst xmlns:a="http://schemas.openxmlformats.org/drawingml/2006/main">
              <a:ext uri="{FF2B5EF4-FFF2-40B4-BE49-F238E27FC236}">
                <a16:creationId xmlns:a16="http://schemas.microsoft.com/office/drawing/2014/main" id="{7683E804-AED1-4DD7-B368-85AC86CF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Execute in app</a:t>
            </a:r>
          </a:p>
        </p:txBody>
      </p:sp>
      <p:sp>
        <p:nvSpPr>
          <p:cNvPr id="47" name="step-04-body">
            <a:extLst xmlns:a="http://schemas.openxmlformats.org/drawingml/2006/main">
              <a:ext uri="{FF2B5EF4-FFF2-40B4-BE49-F238E27FC236}">
                <a16:creationId xmlns:a16="http://schemas.microsoft.com/office/drawing/2014/main" id="{A5913B47-74F2-42BD-BFCB-C03BA13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Validate args, authorize access, then run your local function.</a:t>
            </a:r>
          </a:p>
        </p:txBody>
      </p:sp>
      <p:sp>
        <p:nvSpPr>
          <p:cNvPr id="48" name="step-05-box">
            <a:extLst xmlns:a="http://schemas.openxmlformats.org/drawingml/2006/main">
              <a:ext uri="{FF2B5EF4-FFF2-40B4-BE49-F238E27FC236}">
                <a16:creationId xmlns:a16="http://schemas.microsoft.com/office/drawing/2014/main" id="{726164A5-F2F2-41EC-91BE-9537136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1885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D19"/>
          </a:solidFill>
          <a:ln xmlns:a="http://schemas.openxmlformats.org/drawingml/2006/main" w="9525">
            <a:solidFill>
              <a:srgbClr val="31583B"/>
            </a:solidFill>
            <a:prstDash val="solid"/>
          </a:ln>
        </p:spPr>
      </p:sp>
      <p:sp>
        <p:nvSpPr>
          <p:cNvPr id="49" name="step-05-bar">
            <a:extLst xmlns:a="http://schemas.openxmlformats.org/drawingml/2006/main">
              <a:ext uri="{FF2B5EF4-FFF2-40B4-BE49-F238E27FC236}">
                <a16:creationId xmlns:a16="http://schemas.microsoft.com/office/drawing/2014/main" id="{A72F8ADB-4D92-441F-B901-642D332F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step-05-num-ring">
            <a:extLst xmlns:a="http://schemas.openxmlformats.org/drawingml/2006/main">
              <a:ext uri="{FF2B5EF4-FFF2-40B4-BE49-F238E27FC236}">
                <a16:creationId xmlns:a16="http://schemas.microsoft.com/office/drawing/2014/main" id="{CB5D2AE4-77BD-4EB5-87DF-9852C7FA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909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8C276"/>
            </a:solidFill>
            <a:prstDash val="solid"/>
          </a:ln>
        </p:spPr>
      </p:sp>
      <p:sp>
        <p:nvSpPr>
          <p:cNvPr id="51" name="step-05-num">
            <a:extLst xmlns:a="http://schemas.openxmlformats.org/drawingml/2006/main">
              <a:ext uri="{FF2B5EF4-FFF2-40B4-BE49-F238E27FC236}">
                <a16:creationId xmlns:a16="http://schemas.microsoft.com/office/drawing/2014/main" id="{3BF6344B-D08F-4E89-936C-63E62F6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4807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8C27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8C27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2" name="step-05-title">
            <a:extLst xmlns:a="http://schemas.openxmlformats.org/drawingml/2006/main">
              <a:ext uri="{FF2B5EF4-FFF2-40B4-BE49-F238E27FC236}">
                <a16:creationId xmlns:a16="http://schemas.microsoft.com/office/drawing/2014/main" id="{6CFE1401-E0E5-4001-A993-48FF49CF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81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Fetch / mutate</a:t>
            </a:r>
          </a:p>
        </p:txBody>
      </p:sp>
      <p:sp>
        <p:nvSpPr>
          <p:cNvPr id="53" name="step-05-body">
            <a:extLst xmlns:a="http://schemas.openxmlformats.org/drawingml/2006/main">
              <a:ext uri="{FF2B5EF4-FFF2-40B4-BE49-F238E27FC236}">
                <a16:creationId xmlns:a16="http://schemas.microsoft.com/office/drawing/2014/main" id="{C86CBDE5-25C2-43DC-AF39-8BC0A5C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1257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Call DB, REST, CLI, SDK, or business logic; return JSON.</a:t>
            </a:r>
          </a:p>
        </p:txBody>
      </p:sp>
      <p:sp>
        <p:nvSpPr>
          <p:cNvPr id="54" name="step-06-box">
            <a:extLst xmlns:a="http://schemas.openxmlformats.org/drawingml/2006/main">
              <a:ext uri="{FF2B5EF4-FFF2-40B4-BE49-F238E27FC236}">
                <a16:creationId xmlns:a16="http://schemas.microsoft.com/office/drawing/2014/main" id="{DCBD334F-0537-4796-B4FF-7269455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18859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E1F"/>
          </a:solidFill>
          <a:ln xmlns:a="http://schemas.openxmlformats.org/drawingml/2006/main" w="9525">
            <a:solidFill>
              <a:srgbClr val="245A55"/>
            </a:solidFill>
            <a:prstDash val="solid"/>
          </a:ln>
        </p:spPr>
      </p:sp>
      <p:sp>
        <p:nvSpPr>
          <p:cNvPr id="55" name="step-06-bar">
            <a:extLst xmlns:a="http://schemas.openxmlformats.org/drawingml/2006/main">
              <a:ext uri="{FF2B5EF4-FFF2-40B4-BE49-F238E27FC236}">
                <a16:creationId xmlns:a16="http://schemas.microsoft.com/office/drawing/2014/main" id="{806B7C2A-94C7-4F01-91B1-2A22E20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244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step-06-num-ring">
            <a:extLst xmlns:a="http://schemas.openxmlformats.org/drawingml/2006/main">
              <a:ext uri="{FF2B5EF4-FFF2-40B4-BE49-F238E27FC236}">
                <a16:creationId xmlns:a16="http://schemas.microsoft.com/office/drawing/2014/main" id="{807A0A4B-92E4-4A94-90F0-089659B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8672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8B7A6"/>
            </a:solidFill>
            <a:prstDash val="solid"/>
          </a:ln>
        </p:spPr>
      </p:sp>
      <p:sp>
        <p:nvSpPr>
          <p:cNvPr id="57" name="step-06-num">
            <a:extLst xmlns:a="http://schemas.openxmlformats.org/drawingml/2006/main">
              <a:ext uri="{FF2B5EF4-FFF2-40B4-BE49-F238E27FC236}">
                <a16:creationId xmlns:a16="http://schemas.microsoft.com/office/drawing/2014/main" id="{347972B9-C567-4ADB-BCC1-31B140D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24425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8" name="step-06-title">
            <a:extLst xmlns:a="http://schemas.openxmlformats.org/drawingml/2006/main">
              <a:ext uri="{FF2B5EF4-FFF2-40B4-BE49-F238E27FC236}">
                <a16:creationId xmlns:a16="http://schemas.microsoft.com/office/drawing/2014/main" id="{6497FC8B-BD7D-4519-B42A-FD6EB514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577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Send tool output</a:t>
            </a:r>
          </a:p>
        </p:txBody>
      </p:sp>
      <p:sp>
        <p:nvSpPr>
          <p:cNvPr id="59" name="step-06-body">
            <a:extLst xmlns:a="http://schemas.openxmlformats.org/drawingml/2006/main">
              <a:ext uri="{FF2B5EF4-FFF2-40B4-BE49-F238E27FC236}">
                <a16:creationId xmlns:a16="http://schemas.microsoft.com/office/drawing/2014/main" id="{53568BC6-337D-4829-B377-74D855DF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86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Send function_call_output with call_id and previous_response_id; the model finishes.</a:t>
            </a:r>
          </a:p>
        </p:txBody>
      </p:sp>
      <p:sp>
        <p:nvSpPr>
          <p:cNvPr id="60" name="arrow-01-02">
            <a:extLst xmlns:a="http://schemas.openxmlformats.org/drawingml/2006/main">
              <a:ext uri="{FF2B5EF4-FFF2-40B4-BE49-F238E27FC236}">
                <a16:creationId xmlns:a16="http://schemas.microsoft.com/office/drawing/2014/main" id="{1AA2F221-599D-43B4-A604-99C4127E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5c29ce5bc410a">
            <a:extLst>
              <a:ext uri="{96DAC541-7B7A-43D3-8B79-37D633B846F1}">
                <asvg:svgBlip xmlns:asvg="http://schemas.microsoft.com/office/drawing/2016/SVG/main" r:embed="Rf9ae2b65b20b48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26670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2" name="arrow-02-03">
            <a:extLst xmlns:a="http://schemas.openxmlformats.org/drawingml/2006/main">
              <a:ext uri="{FF2B5EF4-FFF2-40B4-BE49-F238E27FC236}">
                <a16:creationId xmlns:a16="http://schemas.microsoft.com/office/drawing/2014/main" id="{C140E160-368A-47A8-BFFC-8D0E088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575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arrow-02-03-head">
            <a:extLst xmlns:a="http://schemas.openxmlformats.org/drawingml/2006/main">
              <a:ext uri="{FF2B5EF4-FFF2-40B4-BE49-F238E27FC236}">
                <a16:creationId xmlns:a16="http://schemas.microsoft.com/office/drawing/2014/main" id="{DE3E8EBA-8529-4F37-8E6A-F891D1D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81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64" name="arrow-04-03">
            <a:extLst xmlns:a="http://schemas.openxmlformats.org/drawingml/2006/main">
              <a:ext uri="{FF2B5EF4-FFF2-40B4-BE49-F238E27FC236}">
                <a16:creationId xmlns:a16="http://schemas.microsoft.com/office/drawing/2014/main" id="{0F6C8FF2-A838-4AA2-9D04-75CB842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00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e844dd7f64ab2">
            <a:extLst>
              <a:ext uri="{96DAC541-7B7A-43D3-8B79-37D633B846F1}">
                <asvg:svgBlip xmlns:asvg="http://schemas.microsoft.com/office/drawing/2016/SVG/main" r:embed="R2501180bb4064b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37338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6" name="arrow-04-06">
            <a:extLst xmlns:a="http://schemas.openxmlformats.org/drawingml/2006/main">
              <a:ext uri="{FF2B5EF4-FFF2-40B4-BE49-F238E27FC236}">
                <a16:creationId xmlns:a16="http://schemas.microsoft.com/office/drawing/2014/main" id="{5A4E9AD3-BC4D-4EE3-A17E-4F21DA26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6160e48314e6f">
            <a:extLst>
              <a:ext uri="{96DAC541-7B7A-43D3-8B79-37D633B846F1}">
                <asvg:svgBlip xmlns:asvg="http://schemas.microsoft.com/office/drawing/2016/SVG/main" r:embed="Rd268b88aadb347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6550" y="52578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8" name="tool-output-label">
            <a:extLst xmlns:a="http://schemas.openxmlformats.org/drawingml/2006/main">
              <a:ext uri="{FF2B5EF4-FFF2-40B4-BE49-F238E27FC236}">
                <a16:creationId xmlns:a16="http://schemas.microsoft.com/office/drawing/2014/main" id="{A0F537EB-0326-4F10-B3D2-3777444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118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18B7A6"/>
                </a:solidFill>
                <a:latin typeface="Menlo"/>
                <a:ea typeface="Menlo"/>
                <a:cs typeface="Menlo"/>
              </a:rPr>
              <a:t>function_call_output &gt;</a:t>
            </a:r>
          </a:p>
        </p:txBody>
      </p:sp>
      <p:sp>
        <p:nvSpPr>
          <p:cNvPr id="69" name="arrow-04-05">
            <a:extLst xmlns:a="http://schemas.openxmlformats.org/drawingml/2006/main">
              <a:ext uri="{FF2B5EF4-FFF2-40B4-BE49-F238E27FC236}">
                <a16:creationId xmlns:a16="http://schemas.microsoft.com/office/drawing/2014/main" id="{6BB8CB9A-13A9-4850-8095-D6BB8E1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3a6d984514098">
            <a:extLst>
              <a:ext uri="{96DAC541-7B7A-43D3-8B79-37D633B846F1}">
                <asvg:svgBlip xmlns:asvg="http://schemas.microsoft.com/office/drawing/2016/SVG/main" r:embed="Rd2b84374b6ff49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37909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1" name="arrow-05-04">
            <a:extLst xmlns:a="http://schemas.openxmlformats.org/drawingml/2006/main">
              <a:ext uri="{FF2B5EF4-FFF2-40B4-BE49-F238E27FC236}">
                <a16:creationId xmlns:a16="http://schemas.microsoft.com/office/drawing/2014/main" id="{AF12841A-8AFF-46E0-8872-DE970B6C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C2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bb7a685fe443f">
            <a:extLst>
              <a:ext uri="{96DAC541-7B7A-43D3-8B79-37D633B846F1}">
                <asvg:svgBlip xmlns:asvg="http://schemas.microsoft.com/office/drawing/2016/SVG/main" r:embed="Rb199089aa5cc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40386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3" name="arrow-06-answer">
            <a:extLst xmlns:a="http://schemas.openxmlformats.org/drawingml/2006/main">
              <a:ext uri="{FF2B5EF4-FFF2-40B4-BE49-F238E27FC236}">
                <a16:creationId xmlns:a16="http://schemas.microsoft.com/office/drawing/2014/main" id="{3A5540F0-4AA4-43D2-9D1B-FE51CBDE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816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04b76ae1649fc">
            <a:extLst>
              <a:ext uri="{96DAC541-7B7A-43D3-8B79-37D633B846F1}">
                <asvg:svgBlip xmlns:asvg="http://schemas.microsoft.com/office/drawing/2016/SVG/main" r:embed="R6c460e2a714d4c9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72075" y="510540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75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6ADF601-C7FA-4124-8C5A-FC97ADE5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72050"/>
            <a:ext cx="1352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8B7A6"/>
                </a:solidFill>
                <a:latin typeface="Menlo"/>
                <a:ea typeface="Menlo"/>
                <a:cs typeface="Menlo"/>
              </a:defRPr>
            </a:pPr>
            <a:r>
              <a:rPr sz="540" b="0">
                <a:solidFill>
                  <a:srgbClr val="18B7A6"/>
                </a:solidFill>
                <a:latin typeface="Menlo"/>
                <a:ea typeface="Menlo"/>
                <a:cs typeface="Menlo"/>
              </a:rPr>
              <a:t>final answer returns to app</a:t>
            </a:r>
          </a:p>
        </p:txBody>
      </p:sp>
      <p:sp>
        <p:nvSpPr>
          <p:cNvPr id="76" name="execution-contract">
            <a:extLst xmlns:a="http://schemas.openxmlformats.org/drawingml/2006/main">
              <a:ext uri="{FF2B5EF4-FFF2-40B4-BE49-F238E27FC236}">
                <a16:creationId xmlns:a16="http://schemas.microsoft.com/office/drawing/2014/main" id="{2459AAA8-CDDF-410B-9D5D-40B6611E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6515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C3338"/>
            </a:solidFill>
            <a:prstDash val="solid"/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81c4ad9b642b3">
            <a:extLst>
              <a:ext uri="{96DAC541-7B7A-43D3-8B79-37D633B846F1}">
                <asvg:svgBlip xmlns:asvg="http://schemas.microsoft.com/office/drawing/2016/SVG/main" r:embed="R6b7fa1541d674c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58388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8" name="contract-title">
            <a:extLst xmlns:a="http://schemas.openxmlformats.org/drawingml/2006/main">
              <a:ext uri="{FF2B5EF4-FFF2-40B4-BE49-F238E27FC236}">
                <a16:creationId xmlns:a16="http://schemas.microsoft.com/office/drawing/2014/main" id="{170DD646-6DC0-426C-9BEA-C60D67D8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6EFE4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6EFE4"/>
                </a:solidFill>
                <a:latin typeface="Aptos"/>
                <a:ea typeface="Aptos"/>
                <a:cs typeface="Aptos"/>
              </a:rPr>
              <a:t>Execution contract</a:t>
            </a:r>
          </a:p>
        </p:txBody>
      </p:sp>
      <p:sp>
        <p:nvSpPr>
          <p:cNvPr id="79" name="contract-body">
            <a:extLst xmlns:a="http://schemas.openxmlformats.org/drawingml/2006/main">
              <a:ext uri="{FF2B5EF4-FFF2-40B4-BE49-F238E27FC236}">
                <a16:creationId xmlns:a16="http://schemas.microsoft.com/office/drawing/2014/main" id="{EA131C17-B278-44B5-B2D9-242DA9A2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00750"/>
            <a:ext cx="5676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The model proposes a function call; your application owns validation, authZ, side effects, retries, and audit logging.</a:t>
            </a:r>
          </a:p>
        </p:txBody>
      </p:sp>
      <p:sp>
        <p:nvSpPr>
          <p:cNvPr id="80" name="code-title">
            <a:extLst xmlns:a="http://schemas.openxmlformats.org/drawingml/2006/main">
              <a:ext uri="{FF2B5EF4-FFF2-40B4-BE49-F238E27FC236}">
                <a16:creationId xmlns:a16="http://schemas.microsoft.com/office/drawing/2014/main" id="{1B8B5097-7F3F-427C-B972-0520A1E2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8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8EC"/>
                </a:solidFill>
                <a:latin typeface="Aptos"/>
                <a:ea typeface="Aptos"/>
                <a:cs typeface="Aptos"/>
              </a:rPr>
              <a:t>Minimal API loop</a:t>
            </a:r>
          </a:p>
        </p:txBody>
      </p:sp>
      <p:sp>
        <p:nvSpPr>
          <p:cNvPr id="81" name="code-subtitle">
            <a:extLst xmlns:a="http://schemas.openxmlformats.org/drawingml/2006/main">
              <a:ext uri="{FF2B5EF4-FFF2-40B4-BE49-F238E27FC236}">
                <a16:creationId xmlns:a16="http://schemas.microsoft.com/office/drawing/2014/main" id="{D89861F6-52AE-4FF9-8021-F5E9D9E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AFA79B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AFA79B"/>
                </a:solidFill>
                <a:latin typeface="Aptos"/>
                <a:ea typeface="Aptos"/>
                <a:cs typeface="Aptos"/>
              </a:rPr>
              <a:t>Service-managed state keeps the second request small: use previous_response_id.</a:t>
            </a:r>
          </a:p>
        </p:txBody>
      </p:sp>
      <p:sp>
        <p:nvSpPr>
          <p:cNvPr id="82" name="code-panel-initial">
            <a:extLst xmlns:a="http://schemas.openxmlformats.org/drawingml/2006/main">
              <a:ext uri="{FF2B5EF4-FFF2-40B4-BE49-F238E27FC236}">
                <a16:creationId xmlns:a16="http://schemas.microsoft.com/office/drawing/2014/main" id="{78EA6630-6A5F-47DF-BC16-2BD49FEB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905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52B30"/>
            </a:solidFill>
            <a:prstDash val="solid"/>
          </a:ln>
        </p:spPr>
      </p:sp>
      <p:sp>
        <p:nvSpPr>
          <p:cNvPr id="83" name="code-panel-initial-header-bg">
            <a:extLst xmlns:a="http://schemas.openxmlformats.org/drawingml/2006/main">
              <a:ext uri="{FF2B5EF4-FFF2-40B4-BE49-F238E27FC236}">
                <a16:creationId xmlns:a16="http://schemas.microsoft.com/office/drawing/2014/main" id="{494D5EDE-4393-4C14-A285-C0E641CF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code-panel-initial-header">
            <a:extLst xmlns:a="http://schemas.openxmlformats.org/drawingml/2006/main">
              <a:ext uri="{FF2B5EF4-FFF2-40B4-BE49-F238E27FC236}">
                <a16:creationId xmlns:a16="http://schemas.microsoft.com/office/drawing/2014/main" id="{1B2FD8D0-928B-4B01-A258-0DA2366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57475"/>
            <a:ext cx="3638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1. Initial request: model may ask for a function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88ED08-A42A-4CB3-B8EC-0E8A64B3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718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tools = [{"type":"function",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7094092-5334-4B6E-9FA2-14FBBD1B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800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"name":"get_order_status",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A77312C-E91B-4C72-95C0-8D215CFF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042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"parameters":{"type":"object", ...}}]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5A995F-F052-4D95-8639-0CB4DE06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041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response = client.responses.create(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03FC753-BF36-4D7D-B643-3349DD7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366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model="openai.gpt-oss-120b",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F88C85F-F7EC-4648-B8F7-C106AFAE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5282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tools=tools,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F71BF1-5F0F-4340-BCE0-5297B57A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6903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input="Where is order A123?"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14C3B2-B7E4-4B76-8C6F-002C088B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85235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93" name="code-panel-followup">
            <a:extLst xmlns:a="http://schemas.openxmlformats.org/drawingml/2006/main">
              <a:ext uri="{FF2B5EF4-FFF2-40B4-BE49-F238E27FC236}">
                <a16:creationId xmlns:a16="http://schemas.microsoft.com/office/drawing/2014/main" id="{9862085D-026D-4D5B-88EB-1FCF6E2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9052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9525">
            <a:solidFill>
              <a:srgbClr val="252B30"/>
            </a:solidFill>
            <a:prstDash val="solid"/>
          </a:ln>
        </p:spPr>
      </p:sp>
      <p:sp>
        <p:nvSpPr>
          <p:cNvPr id="94" name="code-panel-followup-header-bg">
            <a:extLst xmlns:a="http://schemas.openxmlformats.org/drawingml/2006/main">
              <a:ext uri="{FF2B5EF4-FFF2-40B4-BE49-F238E27FC236}">
                <a16:creationId xmlns:a16="http://schemas.microsoft.com/office/drawing/2014/main" id="{419FD630-64DE-408A-ACFE-ABC42FB9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957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9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code-panel-followup-header">
            <a:extLst xmlns:a="http://schemas.openxmlformats.org/drawingml/2006/main">
              <a:ext uri="{FF2B5EF4-FFF2-40B4-BE49-F238E27FC236}">
                <a16:creationId xmlns:a16="http://schemas.microsoft.com/office/drawing/2014/main" id="{FE926F27-EB97-4084-B09F-D391658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81475"/>
            <a:ext cx="3638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D7B46A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7B46A"/>
                </a:solidFill>
                <a:latin typeface="Aptos"/>
                <a:ea typeface="Aptos"/>
                <a:cs typeface="Aptos"/>
              </a:rPr>
              <a:t>2. Execute locally, then send output back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5AA2D8A-6369-4D6D-B6BA-7FCB7E3E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for item in response.output: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4DDCB6-B8A8-4E55-A622-CDE4A8F1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139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if item.type == "function_call":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835229D-F528-4B28-BFB2-497A17D9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320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args = json.loads(item.arguments)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0CB639E-C1DA-45EF-B556-CFEF4F02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013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result = get_order_status(**args)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FC7D92-2CF0-4C4A-A5B1-20D26D81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6824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tool_outputs = [{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96B67D5-4E36-49D1-ADC0-2E65645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8635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"type": "function_call_output",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DF2A68-EB80-4C89-B785-130CD48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0446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"call_id": item.call_id,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5A1B87-DE38-4851-BDF9-990D7E9E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2257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  "output": json.dumps(result)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FC2AED1-FF67-4EA4-8497-8D74580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4068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  }]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E5CAA0-90D0-4C93-B328-96A7BCCE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55879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final = client.responses.create(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03FE5A6-B7FE-4CFD-9533-B07DC36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7690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model="openai.gpt-oss-120b",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4B78CD-C562-4FFC-84CF-03419E2D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9501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input=tool_outputs,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730CF5-BDDE-4E8E-9E33-FC8702F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13120"/>
            <a:ext cx="3638550" cy="1000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F6EFE4"/>
                </a:solidFill>
                <a:latin typeface="Menlo"/>
                <a:ea typeface="Menlo"/>
                <a:cs typeface="Menlo"/>
              </a:defRPr>
            </a:pPr>
            <a:r>
              <a:rPr sz="585" b="0">
                <a:solidFill>
                  <a:srgbClr val="F6EFE4"/>
                </a:solidFill>
                <a:latin typeface="Menlo"/>
                <a:ea typeface="Menlo"/>
                <a:cs typeface="Menlo"/>
              </a:rPr>
              <a:t>  previous_response_id=response.id)</a:t>
            </a:r>
          </a:p>
        </p:txBody>
      </p:sp>
      <p:sp>
        <p:nvSpPr>
          <p:cNvPr id="109" name="anim-s01-highlight">
            <a:extLst xmlns:a="http://schemas.openxmlformats.org/drawingml/2006/main">
              <a:ext uri="{FF2B5EF4-FFF2-40B4-BE49-F238E27FC236}">
                <a16:creationId xmlns:a16="http://schemas.microsoft.com/office/drawing/2014/main" id="{6A882956-9AF9-41C0-928B-560ED793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26A3D"/>
            </a:solidFill>
            <a:prstDash val="solid"/>
          </a:ln>
        </p:spPr>
      </p:sp>
      <p:sp>
        <p:nvSpPr>
          <p:cNvPr id="110" name="anim-s02-highlight">
            <a:extLst xmlns:a="http://schemas.openxmlformats.org/drawingml/2006/main">
              <a:ext uri="{FF2B5EF4-FFF2-40B4-BE49-F238E27FC236}">
                <a16:creationId xmlns:a16="http://schemas.microsoft.com/office/drawing/2014/main" id="{C6066EAC-C823-46B4-93DF-4EB85D7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05050"/>
            <a:ext cx="2000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8B7A6"/>
            </a:solidFill>
            <a:prstDash val="solid"/>
          </a:ln>
        </p:spPr>
      </p:sp>
      <p:sp>
        <p:nvSpPr>
          <p:cNvPr id="111" name="anim-s03-highlight">
            <a:extLst xmlns:a="http://schemas.openxmlformats.org/drawingml/2006/main">
              <a:ext uri="{FF2B5EF4-FFF2-40B4-BE49-F238E27FC236}">
                <a16:creationId xmlns:a16="http://schemas.microsoft.com/office/drawing/2014/main" id="{F8C598AC-F38C-4C87-BD58-70A2F779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7B46A"/>
            </a:solidFill>
            <a:prstDash val="solid"/>
          </a:ln>
        </p:spPr>
      </p:sp>
      <p:sp>
        <p:nvSpPr>
          <p:cNvPr id="112" name="anim-s04-highlight">
            <a:extLst xmlns:a="http://schemas.openxmlformats.org/drawingml/2006/main">
              <a:ext uri="{FF2B5EF4-FFF2-40B4-BE49-F238E27FC236}">
                <a16:creationId xmlns:a16="http://schemas.microsoft.com/office/drawing/2014/main" id="{5BCDAD6F-66C5-444B-9DF0-A60CD72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26A3D"/>
            </a:solidFill>
            <a:prstDash val="solid"/>
          </a:ln>
        </p:spPr>
      </p:sp>
      <p:sp>
        <p:nvSpPr>
          <p:cNvPr id="113" name="anim-s05-highlight">
            <a:extLst xmlns:a="http://schemas.openxmlformats.org/drawingml/2006/main">
              <a:ext uri="{FF2B5EF4-FFF2-40B4-BE49-F238E27FC236}">
                <a16:creationId xmlns:a16="http://schemas.microsoft.com/office/drawing/2014/main" id="{9F5E889C-14BA-4145-9709-16AD1521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90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78C276"/>
            </a:solidFill>
            <a:prstDash val="solid"/>
          </a:ln>
        </p:spPr>
      </p:sp>
      <p:sp>
        <p:nvSpPr>
          <p:cNvPr id="114" name="anim-s06-highlight">
            <a:extLst xmlns:a="http://schemas.openxmlformats.org/drawingml/2006/main">
              <a:ext uri="{FF2B5EF4-FFF2-40B4-BE49-F238E27FC236}">
                <a16:creationId xmlns:a16="http://schemas.microsoft.com/office/drawing/2014/main" id="{10DA2005-2FB6-4249-ACCF-7FA562F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672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8B7A6"/>
            </a:solidFill>
            <a:prstDash val="solid"/>
          </a:ln>
        </p:spPr>
      </p:sp>
      <p:sp>
        <p:nvSpPr>
          <p:cNvPr id="1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3C2898E-C1C7-48A7-831D-CA6B6E7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E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679D9F7-D19E-48B5-929D-8577629D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429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8" b="0">
                <a:solidFill>
                  <a:srgbClr val="6F6A62"/>
                </a:solidFill>
                <a:latin typeface="Aptos"/>
                <a:ea typeface="Aptos"/>
                <a:cs typeface="Aptos"/>
              </a:defRPr>
            </a:pPr>
            <a:r>
              <a:rPr sz="548" b="0">
                <a:solidFill>
                  <a:srgbClr val="6F6A62"/>
                </a:solidFill>
                <a:latin typeface="Aptos"/>
                <a:ea typeface="Aptos"/>
                <a:cs typeface="Aptos"/>
              </a:rPr>
              <a:t>Sources: Oracle OCI gpt-oss-120b model page; OCI OpenAI-compatible endpoints; OCI Function Calling docs.</a:t>
            </a:r>
          </a:p>
        </p:txBody>
      </p:sp>
      <p:sp>
        <p:nvSpPr>
          <p:cNvPr id="1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307FD5-1591-4E4E-BA4F-CC9DC567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151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6A6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6F6A6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148206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1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450" fill="hold"/>
                                  <p:tgtEl>
                                    <p:spTgt spid="10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0" presetClass="entr" presetSubtype="0" fill="hold" grpId="2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1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0" presetClass="entr" presetSubtype="0" fill="hold" grpId="3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1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0" presetClass="entr" presetSubtype="0" fill="hold" grpId="4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1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0" presetClass="entr" presetSubtype="0" fill="hold" grpId="5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1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presetID="10" presetClass="entr" presetSubtype="0" fill="hold" grpId="6" nodeType="click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1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/>
              </p:prevCondLst>
              <p:nextCondLst>
                <p:cond evt="onNext"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2026-05-12T12:52:50.9150000Z</dcterms:created>
  <dcterms:modified xsi:type="dcterms:W3CDTF">2026-05-12T12:52:50.9150000Z</dcterms:modified>
</coreProperties>
</file>